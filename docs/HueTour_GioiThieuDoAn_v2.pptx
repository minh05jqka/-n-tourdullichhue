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bf3252c1624936" /><Relationship Type="http://schemas.openxmlformats.org/officeDocument/2006/relationships/extended-properties" Target="/docProps/app.xml" Id="R7eb6ad098fdd4e72" /><Relationship Type="http://schemas.openxmlformats.org/officeDocument/2006/relationships/officeDocument" Target="/ppt/presentation.xml" Id="R81206305d7f9454a" /></Relationships>
</file>

<file path=ppt/presentation.xml><?xml version="1.0" encoding="utf-8"?>
<p:presentation xmlns:p="http://schemas.openxmlformats.org/presentationml/2006/main">
  <p:sldMasterIdLst>
    <p:sldMasterId xmlns:r="http://schemas.openxmlformats.org/officeDocument/2006/relationships" id="2147483648" r:id="Rffb203fb027446a5"/>
  </p:sldMasterIdLst>
  <p:notesMasterIdLst>
    <p:notesMasterId xmlns:r="http://schemas.openxmlformats.org/officeDocument/2006/relationships" r:id="R2081ec5747bd40ff"/>
  </p:notesMasterIdLst>
  <p:sldIdLst>
    <p:sldId xmlns:r="http://schemas.openxmlformats.org/officeDocument/2006/relationships" id="256" r:id="R119d3375e4604cd7"/>
    <p:sldId xmlns:r="http://schemas.openxmlformats.org/officeDocument/2006/relationships" id="257" r:id="R66f54543494e4e91"/>
    <p:sldId xmlns:r="http://schemas.openxmlformats.org/officeDocument/2006/relationships" id="258" r:id="R5d250f2dc2874639"/>
    <p:sldId xmlns:r="http://schemas.openxmlformats.org/officeDocument/2006/relationships" id="259" r:id="Re17661f4144a405c"/>
    <p:sldId xmlns:r="http://schemas.openxmlformats.org/officeDocument/2006/relationships" id="260" r:id="R1ec1fd9791ec4108"/>
    <p:sldId xmlns:r="http://schemas.openxmlformats.org/officeDocument/2006/relationships" id="261" r:id="R64a65260d38e46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ebfd5c71d54f51" /><Relationship Type="http://schemas.openxmlformats.org/officeDocument/2006/relationships/slideMaster" Target="/ppt/slideMasters/slideMaster1.xml" Id="Rffb203fb027446a5" /><Relationship Type="http://schemas.openxmlformats.org/officeDocument/2006/relationships/notesMaster" Target="/ppt/notesMasters/notesMaster1.xml" Id="R2081ec5747bd40ff" /><Relationship Type="http://schemas.openxmlformats.org/officeDocument/2006/relationships/presProps" Target="/ppt/presProps.xml" Id="R837f4e49a5844ce5" /><Relationship Type="http://schemas.openxmlformats.org/officeDocument/2006/relationships/tableStyles" Target="/ppt/tableStyles.xml" Id="R9e3ad16cdf0b47ce" /><Relationship Type="http://schemas.openxmlformats.org/officeDocument/2006/relationships/slide" Target="/ppt/slides/slide1.xml" Id="R119d3375e4604cd7" /><Relationship Type="http://schemas.openxmlformats.org/officeDocument/2006/relationships/slide" Target="/ppt/slides/slide2.xml" Id="R66f54543494e4e91" /><Relationship Type="http://schemas.openxmlformats.org/officeDocument/2006/relationships/slide" Target="/ppt/slides/slide3.xml" Id="R5d250f2dc2874639" /><Relationship Type="http://schemas.openxmlformats.org/officeDocument/2006/relationships/slide" Target="/ppt/slides/slide4.xml" Id="Re17661f4144a405c" /><Relationship Type="http://schemas.openxmlformats.org/officeDocument/2006/relationships/slide" Target="/ppt/slides/slide5.xml" Id="R1ec1fd9791ec4108" /><Relationship Type="http://schemas.openxmlformats.org/officeDocument/2006/relationships/slide" Target="/ppt/slides/slide6.xml" Id="R64a65260d38e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d10dc9b3ae46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20a9ecba4a4fe6" /><Relationship Type="http://schemas.openxmlformats.org/officeDocument/2006/relationships/notesMaster" Target="/ppt/notesMasters/notesMaster1.xml" Id="Ra548c3e3e04240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70af3896a049dc" /><Relationship Type="http://schemas.openxmlformats.org/officeDocument/2006/relationships/notesMaster" Target="/ppt/notesMasters/notesMaster1.xml" Id="R0dcd13613792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618f34f7504f92" /><Relationship Type="http://schemas.openxmlformats.org/officeDocument/2006/relationships/notesMaster" Target="/ppt/notesMasters/notesMaster1.xml" Id="Rad98e5a068724b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ce9189a1cf45be" /><Relationship Type="http://schemas.openxmlformats.org/officeDocument/2006/relationships/notesMaster" Target="/ppt/notesMasters/notesMaster1.xml" Id="Rafd421fbe54a46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79143631b946a9" /><Relationship Type="http://schemas.openxmlformats.org/officeDocument/2006/relationships/notesMaster" Target="/ppt/notesMasters/notesMaster1.xml" Id="R521a3fc2843447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c6d431a60a4ff7" /><Relationship Type="http://schemas.openxmlformats.org/officeDocument/2006/relationships/notesMaster" Target="/ppt/notesMasters/notesMaster1.xml" Id="Rd5fcfc1b9c1544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Ngọ Môn: Vyacheslav Argenberg, CC BY 4.0. Nguồn: https://commons.wikimedia.org/wiki/File:Vietnam,_Hue,_Imperial_City_of_Hue,_Gate.jpg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Lăng Khải Định: dronepicr, CC BY 2.0. Nguồn: https://commons.wikimedia.org/wiki/File:Khai_Dinh_tomb_Hue_(27767136409).jpg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đầm Tam Giang: yuchinkay, CC BY 2.0. https://commons.wikimedia.org/wiki/File:Tam_Giang_lagoon.jpg</a:t>
            </a:r>
          </a:p>
          <a:p xmlns:a="http://schemas.openxmlformats.org/drawingml/2006/main">
            <a:r>
              <a:t>Ảnh cầu Trường Tiền: giấy phép CC BY 4.0 theo trang tệp. https://commons.wikimedia.org/wiki/File:Truong_Tien_bridge_(I).jpg</a:t>
            </a:r>
          </a:p>
          <a:p xmlns:a="http://schemas.openxmlformats.org/drawingml/2006/main">
            <a:r>
              <a:t>Ảnh bún bò Huế: Kham Tran, CC BY 3.0. https://commons.wikimedia.org/wiki/File:Bun-Bo-Hue-2008.jpg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tắc đặt tour và mức giá được tóm tắt từ phần luật nghiệp vụ trong đồ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chùa Thiên Mụ: Dominik Tefert, public domain. Nguồn: https://commons.wikimedia.org/wiki/File:Hue_Thien_Mu-Pagoda.JPG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tin sinh viên và môn học được lấy từ ảnh người dùng gửi. Repository: https://github.com/Minh05JQKA/-n-TourDulLichHue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01f9b40dad41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a1e9ab3744cc6" /><Relationship Type="http://schemas.openxmlformats.org/officeDocument/2006/relationships/slideLayout" Target="/ppt/slideLayouts/slideLayout1.xml" Id="R58b431ad9b7545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b431ad9b7545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6dde0d55be4a60" /><Relationship Type="http://schemas.openxmlformats.org/officeDocument/2006/relationships/image" Target="/ppt/media/image.jpeg" Id="R90564d01cf8d4ce2" /><Relationship Type="http://schemas.openxmlformats.org/officeDocument/2006/relationships/notesSlide" Target="/ppt/notesSlides/notesSlide1.xml" Id="R075f6521953547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5f940c67f34a2f" /><Relationship Type="http://schemas.openxmlformats.org/officeDocument/2006/relationships/image" Target="/ppt/media/image2.jpeg" Id="Rdc4cf3c509ae4aa1" /><Relationship Type="http://schemas.openxmlformats.org/officeDocument/2006/relationships/notesSlide" Target="/ppt/notesSlides/notesSlide2.xml" Id="R59cc711cee7e4f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fb2008690d4254" /><Relationship Type="http://schemas.openxmlformats.org/officeDocument/2006/relationships/image" Target="/ppt/media/image3.jpeg" Id="Re332cef5f7b34095" /><Relationship Type="http://schemas.openxmlformats.org/officeDocument/2006/relationships/image" Target="/ppt/media/image4.jpeg" Id="Rda1e457bd8f145f4" /><Relationship Type="http://schemas.openxmlformats.org/officeDocument/2006/relationships/image" Target="/ppt/media/image5.jpeg" Id="Rd8ae87920b224adf" /><Relationship Type="http://schemas.openxmlformats.org/officeDocument/2006/relationships/notesSlide" Target="/ppt/notesSlides/notesSlide3.xml" Id="Rd9e7a6a32a374a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26548ac3f845b1" /><Relationship Type="http://schemas.openxmlformats.org/officeDocument/2006/relationships/notesSlide" Target="/ppt/notesSlides/notesSlide4.xml" Id="Rfef4e5f1ca6e4f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eefa8c2be34942" /><Relationship Type="http://schemas.openxmlformats.org/officeDocument/2006/relationships/image" Target="/ppt/media/image6.jpeg" Id="R87a7892c430e4b2b" /><Relationship Type="http://schemas.openxmlformats.org/officeDocument/2006/relationships/notesSlide" Target="/ppt/notesSlides/notesSlide5.xml" Id="R94034e50488846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ea5ffb48e94cdc" /><Relationship Type="http://schemas.openxmlformats.org/officeDocument/2006/relationships/notesSlide" Target="/ppt/notesSlides/notesSlide6.xml" Id="Ra0b797e3468441ab" /></Relationships>
</file>

<file path=ppt/slides/slide1.xml><?xml version="1.0" encoding="utf-8"?>
<p:sld xmlns:p="http://schemas.openxmlformats.org/presentationml/2006/main">
  <p:cSld>
    <p:bg>
      <p:bgPr>
        <a:solidFill xmlns:a="http://schemas.openxmlformats.org/drawingml/2006/main">
          <a:srgbClr val="3B1644"/>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0564d01cf8d4ce2"/>
          <a:srcRect xmlns:a="http://schemas.openxmlformats.org/drawingml/2006/main" l="21287" t="0" r="21287" b="0"/>
          <a:stretch xmlns:a="http://schemas.openxmlformats.org/drawingml/2006/main">
            <a:fillRect l="0" t="0" r="0" b="0"/>
          </a:stretch>
        </p:blipFill>
        <p:spPr>
          <a:xfrm xmlns:a="http://schemas.openxmlformats.org/drawingml/2006/main">
            <a:off x="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33689F-39F3-488A-88A1-FEE34F79FB99}"/>
              </a:ext>
            </a:extLst>
          </p:cNvPr>
          <p:cNvSpPr>
            <a:spLocks xmlns:a="http://schemas.openxmlformats.org/drawingml/2006/main" noGrp="1"/>
          </p:cNvSpPr>
          <p:nvPr/>
        </p:nvSpPr>
        <p:spPr>
          <a:xfrm xmlns:a="http://schemas.openxmlformats.org/drawingml/2006/main">
            <a:off x="6534150" y="13525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D6AA3A"/>
                </a:solidFill>
                <a:latin typeface="Arial"/>
                <a:ea typeface="Arial"/>
                <a:cs typeface="Arial"/>
              </a:defRPr>
            </a:pPr>
            <a:r>
              <a:rPr sz="1575" b="1">
                <a:solidFill>
                  <a:srgbClr val="D6AA3A"/>
                </a:solidFill>
                <a:latin typeface="Arial"/>
                <a:ea typeface="Arial"/>
                <a:cs typeface="Arial"/>
              </a:rPr>
              <a:t>HUẾ TOUR BOOKING</a:t>
            </a:r>
          </a:p>
        </p:txBody>
      </p:sp>
      <p:sp>
        <p:nvSpPr>
          <p:cNvPr id="3" name="">
            <a:extLst xmlns:a="http://schemas.openxmlformats.org/drawingml/2006/main">
              <a:ext uri="{FF2B5EF4-FFF2-40B4-BE49-F238E27FC236}">
                <a16:creationId xmlns:a16="http://schemas.microsoft.com/office/drawing/2014/main" id="{E4BC15E3-5DE6-4883-BC1C-83D9F475B0BE}"/>
              </a:ext>
            </a:extLst>
          </p:cNvPr>
          <p:cNvSpPr>
            <a:spLocks xmlns:a="http://schemas.openxmlformats.org/drawingml/2006/main" noGrp="1"/>
          </p:cNvSpPr>
          <p:nvPr/>
        </p:nvSpPr>
        <p:spPr>
          <a:xfrm xmlns:a="http://schemas.openxmlformats.org/drawingml/2006/main">
            <a:off x="6534150" y="1971675"/>
            <a:ext cx="4953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ĐẶT TOUR</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DU LỊCH HUẾ</a:t>
            </a:r>
          </a:p>
        </p:txBody>
      </p:sp>
      <p:sp>
        <p:nvSpPr>
          <p:cNvPr id="4" name="">
            <a:extLst xmlns:a="http://schemas.openxmlformats.org/drawingml/2006/main">
              <a:ext uri="{FF2B5EF4-FFF2-40B4-BE49-F238E27FC236}">
                <a16:creationId xmlns:a16="http://schemas.microsoft.com/office/drawing/2014/main" id="{A442269A-660B-434C-99B3-102A8C255BED}"/>
              </a:ext>
            </a:extLst>
          </p:cNvPr>
          <p:cNvSpPr>
            <a:spLocks xmlns:a="http://schemas.openxmlformats.org/drawingml/2006/main" noGrp="1"/>
          </p:cNvSpPr>
          <p:nvPr/>
        </p:nvSpPr>
        <p:spPr>
          <a:xfrm xmlns:a="http://schemas.openxmlformats.org/drawingml/2006/main">
            <a:off x="6553200" y="37909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9"/>
          </a:bodyPr>
          <a:lstStyle xmlns:a="http://schemas.openxmlformats.org/drawingml/2006/main"/>
          <a:p xmlns:a="http://schemas.openxmlformats.org/drawingml/2006/main">
            <a:pPr algn="l">
              <a:defRPr sz="2025" b="0">
                <a:solidFill>
                  <a:srgbClr val="F3EAF3"/>
                </a:solidFill>
                <a:latin typeface="Arial"/>
                <a:ea typeface="Arial"/>
                <a:cs typeface="Arial"/>
              </a:defRPr>
            </a:pPr>
            <a:r>
              <a:rPr sz="2025" b="0">
                <a:solidFill>
                  <a:srgbClr val="F3EAF3"/>
                </a:solidFill>
                <a:latin typeface="Arial"/>
                <a:ea typeface="Arial"/>
                <a:cs typeface="Arial"/>
              </a:rPr>
              <a:t>Đồ án phát triển ứng dụng web bằng .NET</a:t>
            </a:r>
          </a:p>
        </p:txBody>
      </p:sp>
      <p:sp>
        <p:nvSpPr>
          <p:cNvPr id="5" name="">
            <a:extLst xmlns:a="http://schemas.openxmlformats.org/drawingml/2006/main">
              <a:ext uri="{FF2B5EF4-FFF2-40B4-BE49-F238E27FC236}">
                <a16:creationId xmlns:a16="http://schemas.microsoft.com/office/drawing/2014/main" id="{0D1C758B-B197-4669-9D02-5323E2445EE3}"/>
              </a:ext>
            </a:extLst>
          </p:cNvPr>
          <p:cNvSpPr>
            <a:spLocks xmlns:a="http://schemas.openxmlformats.org/drawingml/2006/main" noGrp="1"/>
          </p:cNvSpPr>
          <p:nvPr/>
        </p:nvSpPr>
        <p:spPr>
          <a:xfrm xmlns:a="http://schemas.openxmlformats.org/drawingml/2006/main">
            <a:off x="6553200" y="53911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EAF3"/>
                </a:solidFill>
                <a:latin typeface="Arial"/>
                <a:ea typeface="Arial"/>
                <a:cs typeface="Arial"/>
              </a:defRPr>
            </a:pPr>
            <a:r>
              <a:rPr sz="1500" b="0">
                <a:solidFill>
                  <a:srgbClr val="F3EAF3"/>
                </a:solidFill>
                <a:latin typeface="Arial"/>
                <a:ea typeface="Arial"/>
                <a:cs typeface="Arial"/>
              </a:rPr>
              <a:t>Lương Quang Hoàng Minh  ·  23K4080038</a:t>
            </a:r>
          </a:p>
        </p:txBody>
      </p:sp>
      <p:sp>
        <p:nvSpPr>
          <p:cNvPr id="6" name="">
            <a:extLst xmlns:a="http://schemas.openxmlformats.org/drawingml/2006/main">
              <a:ext uri="{FF2B5EF4-FFF2-40B4-BE49-F238E27FC236}">
                <a16:creationId xmlns:a16="http://schemas.microsoft.com/office/drawing/2014/main" id="{799380B0-A581-4C7B-B124-3967D5137818}"/>
              </a:ext>
            </a:extLst>
          </p:cNvPr>
          <p:cNvSpPr>
            <a:spLocks xmlns:a="http://schemas.openxmlformats.org/drawingml/2006/main" noGrp="1"/>
          </p:cNvSpPr>
          <p:nvPr/>
        </p:nvSpPr>
        <p:spPr>
          <a:xfrm xmlns:a="http://schemas.openxmlformats.org/drawingml/2006/main">
            <a:off x="6553200" y="58197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D6AA3A"/>
                </a:solidFill>
                <a:latin typeface="Arial"/>
                <a:ea typeface="Arial"/>
                <a:cs typeface="Arial"/>
              </a:defRPr>
            </a:pPr>
            <a:r>
              <a:rPr sz="1350" b="0">
                <a:solidFill>
                  <a:srgbClr val="D6AA3A"/>
                </a:solidFill>
                <a:latin typeface="Arial"/>
                <a:ea typeface="Arial"/>
                <a:cs typeface="Arial"/>
              </a:rPr>
              <a:t>K57HTTTQL  |  Đại học Kinh tế Huế</a:t>
            </a:r>
          </a:p>
        </p:txBody>
      </p:sp>
    </p:spTree>
    <p:extLst>
      <p:ext uri="{BB962C8B-B14F-4D97-AF65-F5344CB8AC3E}">
        <p14:creationId xmlns:p14="http://schemas.microsoft.com/office/powerpoint/2010/main" val="781783504"/>
      </p:ext>
    </p:extLst>
  </p:cSld>
</p:sld>
</file>

<file path=ppt/slides/slide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4E65FF-1536-44D1-A883-91DB9BC6BFB0}"/>
              </a:ext>
            </a:extLst>
          </p:cNvPr>
          <p:cNvSpPr>
            <a:spLocks xmlns:a="http://schemas.openxmlformats.org/drawingml/2006/main" noGrp="1"/>
          </p:cNvSpPr>
          <p:nvPr/>
        </p:nvSpPr>
        <p:spPr>
          <a:xfrm xmlns:a="http://schemas.openxmlformats.org/drawingml/2006/main">
            <a:off x="685800" y="5524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42255"/>
                </a:solidFill>
                <a:latin typeface="Arial"/>
                <a:ea typeface="Arial"/>
                <a:cs typeface="Arial"/>
              </a:defRPr>
            </a:pPr>
            <a:r>
              <a:rPr sz="1350" b="1">
                <a:solidFill>
                  <a:srgbClr val="542255"/>
                </a:solidFill>
                <a:latin typeface="Arial"/>
                <a:ea typeface="Arial"/>
                <a:cs typeface="Arial"/>
              </a:rPr>
              <a:t>TỔNG QUAN ĐỒ ÁN</a:t>
            </a:r>
          </a:p>
        </p:txBody>
      </p:sp>
      <p:sp>
        <p:nvSpPr>
          <p:cNvPr id="2" name="">
            <a:extLst xmlns:a="http://schemas.openxmlformats.org/drawingml/2006/main">
              <a:ext uri="{FF2B5EF4-FFF2-40B4-BE49-F238E27FC236}">
                <a16:creationId xmlns:a16="http://schemas.microsoft.com/office/drawing/2014/main" id="{2D7FBB68-F7DD-4683-AEF0-0648FC15970D}"/>
              </a:ext>
            </a:extLst>
          </p:cNvPr>
          <p:cNvSpPr>
            <a:spLocks xmlns:a="http://schemas.openxmlformats.org/drawingml/2006/main" noGrp="1"/>
          </p:cNvSpPr>
          <p:nvPr/>
        </p:nvSpPr>
        <p:spPr>
          <a:xfrm xmlns:a="http://schemas.openxmlformats.org/drawingml/2006/main">
            <a:off x="685800" y="106680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211B22"/>
                </a:solidFill>
                <a:latin typeface="Arial"/>
                <a:ea typeface="Arial"/>
                <a:cs typeface="Arial"/>
              </a:defRPr>
            </a:pPr>
            <a:r>
              <a:rPr sz="3300" b="1">
                <a:solidFill>
                  <a:srgbClr val="211B22"/>
                </a:solidFill>
                <a:latin typeface="Arial"/>
                <a:ea typeface="Arial"/>
                <a:cs typeface="Arial"/>
              </a:rPr>
              <a:t>Một điểm bắt đầu</a:t>
            </a:r>
          </a:p>
          <a:p xmlns:a="http://schemas.openxmlformats.org/drawingml/2006/main">
            <a:pPr algn="l">
              <a:defRPr sz="3300" b="1">
                <a:solidFill>
                  <a:srgbClr val="211B22"/>
                </a:solidFill>
                <a:latin typeface="Arial"/>
                <a:ea typeface="Arial"/>
                <a:cs typeface="Arial"/>
              </a:defRPr>
            </a:pPr>
            <a:r>
              <a:rPr sz="3300" b="1">
                <a:solidFill>
                  <a:srgbClr val="211B22"/>
                </a:solidFill>
                <a:latin typeface="Arial"/>
                <a:ea typeface="Arial"/>
                <a:cs typeface="Arial"/>
              </a:rPr>
              <a:t>để khám phá Huế</a:t>
            </a:r>
          </a:p>
        </p:txBody>
      </p:sp>
      <p:sp>
        <p:nvSpPr>
          <p:cNvPr id="3" name="">
            <a:extLst xmlns:a="http://schemas.openxmlformats.org/drawingml/2006/main">
              <a:ext uri="{FF2B5EF4-FFF2-40B4-BE49-F238E27FC236}">
                <a16:creationId xmlns:a16="http://schemas.microsoft.com/office/drawing/2014/main" id="{32452664-87A9-4278-B9E4-AF4A62969606}"/>
              </a:ext>
            </a:extLst>
          </p:cNvPr>
          <p:cNvSpPr>
            <a:spLocks xmlns:a="http://schemas.openxmlformats.org/drawingml/2006/main" noGrp="1"/>
          </p:cNvSpPr>
          <p:nvPr/>
        </p:nvSpPr>
        <p:spPr>
          <a:xfrm xmlns:a="http://schemas.openxmlformats.org/drawingml/2006/main">
            <a:off x="704850" y="25717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5D5660"/>
                </a:solidFill>
                <a:latin typeface="Arial"/>
                <a:ea typeface="Arial"/>
                <a:cs typeface="Arial"/>
              </a:defRPr>
            </a:pPr>
            <a:r>
              <a:rPr sz="1875" b="0">
                <a:solidFill>
                  <a:srgbClr val="5D5660"/>
                </a:solidFill>
                <a:latin typeface="Arial"/>
                <a:ea typeface="Arial"/>
                <a:cs typeface="Arial"/>
              </a:rPr>
              <a:t>Hue Tour Booking giới thiệu các hành trình di sản, sinh thái và ẩm thực tại Huế. Khách có thể tìm tour, xem lịch khởi hành và gửi thông tin đặt chỗ trên cùng một website.</a:t>
            </a:r>
          </a:p>
        </p:txBody>
      </p:sp>
      <p:sp>
        <p:nvSpPr>
          <p:cNvPr id="4" name="">
            <a:extLst xmlns:a="http://schemas.openxmlformats.org/drawingml/2006/main">
              <a:ext uri="{FF2B5EF4-FFF2-40B4-BE49-F238E27FC236}">
                <a16:creationId xmlns:a16="http://schemas.microsoft.com/office/drawing/2014/main" id="{E5357E79-9899-46B3-94A3-BEAAB8017D79}"/>
              </a:ext>
            </a:extLst>
          </p:cNvPr>
          <p:cNvSpPr>
            <a:spLocks xmlns:a="http://schemas.openxmlformats.org/drawingml/2006/main" noGrp="1"/>
          </p:cNvSpPr>
          <p:nvPr/>
        </p:nvSpPr>
        <p:spPr>
          <a:xfrm xmlns:a="http://schemas.openxmlformats.org/drawingml/2006/main">
            <a:off x="704850" y="45910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B1644"/>
                </a:solidFill>
                <a:latin typeface="Arial"/>
                <a:ea typeface="Arial"/>
                <a:cs typeface="Arial"/>
              </a:defRPr>
            </a:pPr>
            <a:r>
              <a:rPr sz="2025" b="1">
                <a:solidFill>
                  <a:srgbClr val="3B1644"/>
                </a:solidFill>
                <a:latin typeface="Arial"/>
                <a:ea typeface="Arial"/>
                <a:cs typeface="Arial"/>
              </a:rPr>
              <a:t>Sáu hành trình mẫu</a:t>
            </a:r>
          </a:p>
        </p:txBody>
      </p:sp>
      <p:sp>
        <p:nvSpPr>
          <p:cNvPr id="5" name="">
            <a:extLst xmlns:a="http://schemas.openxmlformats.org/drawingml/2006/main">
              <a:ext uri="{FF2B5EF4-FFF2-40B4-BE49-F238E27FC236}">
                <a16:creationId xmlns:a16="http://schemas.microsoft.com/office/drawing/2014/main" id="{4DD85A2B-BC7D-441C-8DD3-2027434BB626}"/>
              </a:ext>
            </a:extLst>
          </p:cNvPr>
          <p:cNvSpPr>
            <a:spLocks xmlns:a="http://schemas.openxmlformats.org/drawingml/2006/main" noGrp="1"/>
          </p:cNvSpPr>
          <p:nvPr/>
        </p:nvSpPr>
        <p:spPr>
          <a:xfrm xmlns:a="http://schemas.openxmlformats.org/drawingml/2006/main">
            <a:off x="704850" y="51054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11B22"/>
                </a:solidFill>
                <a:latin typeface="Arial"/>
                <a:ea typeface="Arial"/>
                <a:cs typeface="Arial"/>
              </a:defRPr>
            </a:pPr>
            <a:r>
              <a:rPr sz="1650" b="0">
                <a:solidFill>
                  <a:srgbClr val="211B22"/>
                </a:solidFill>
                <a:latin typeface="Arial"/>
                <a:ea typeface="Arial"/>
                <a:cs typeface="Arial"/>
              </a:rPr>
              <a:t>Từ Đại Nội và lăng tẩm đến Tam Giang, sông Hương, ẩm thực và Bạch Mã.</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c4cf3c509ae4aa1"/>
          <a:srcRect xmlns:a="http://schemas.openxmlformats.org/drawingml/2006/main" l="20824" t="0" r="20824"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Tree>
    <p:extLst>
      <p:ext uri="{BB962C8B-B14F-4D97-AF65-F5344CB8AC3E}">
        <p14:creationId xmlns:p14="http://schemas.microsoft.com/office/powerpoint/2010/main" val="13916384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666CA5-A001-4406-90DF-C4914EB6D088}"/>
              </a:ext>
            </a:extLst>
          </p:cNvPr>
          <p:cNvSpPr>
            <a:spLocks xmlns:a="http://schemas.openxmlformats.org/drawingml/2006/main" noGrp="1"/>
          </p:cNvSpPr>
          <p:nvPr/>
        </p:nvSpPr>
        <p:spPr>
          <a:xfrm xmlns:a="http://schemas.openxmlformats.org/drawingml/2006/main">
            <a:off x="685800" y="5143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42255"/>
                </a:solidFill>
                <a:latin typeface="Arial"/>
                <a:ea typeface="Arial"/>
                <a:cs typeface="Arial"/>
              </a:defRPr>
            </a:pPr>
            <a:r>
              <a:rPr sz="1350" b="1">
                <a:solidFill>
                  <a:srgbClr val="542255"/>
                </a:solidFill>
                <a:latin typeface="Arial"/>
                <a:ea typeface="Arial"/>
                <a:cs typeface="Arial"/>
              </a:rPr>
              <a:t>TRẢI NGHIỆM KHÁCH HÀNG</a:t>
            </a:r>
          </a:p>
        </p:txBody>
      </p:sp>
      <p:sp>
        <p:nvSpPr>
          <p:cNvPr id="2" name="">
            <a:extLst xmlns:a="http://schemas.openxmlformats.org/drawingml/2006/main">
              <a:ext uri="{FF2B5EF4-FFF2-40B4-BE49-F238E27FC236}">
                <a16:creationId xmlns:a16="http://schemas.microsoft.com/office/drawing/2014/main" id="{8DE58308-9795-4403-9336-D2298D5B53A0}"/>
              </a:ext>
            </a:extLst>
          </p:cNvPr>
          <p:cNvSpPr>
            <a:spLocks xmlns:a="http://schemas.openxmlformats.org/drawingml/2006/main" noGrp="1"/>
          </p:cNvSpPr>
          <p:nvPr/>
        </p:nvSpPr>
        <p:spPr>
          <a:xfrm xmlns:a="http://schemas.openxmlformats.org/drawingml/2006/main">
            <a:off x="685800" y="9429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211B22"/>
                </a:solidFill>
                <a:latin typeface="Arial"/>
                <a:ea typeface="Arial"/>
                <a:cs typeface="Arial"/>
              </a:defRPr>
            </a:pPr>
            <a:r>
              <a:rPr sz="3000" b="1">
                <a:solidFill>
                  <a:srgbClr val="211B22"/>
                </a:solidFill>
                <a:latin typeface="Arial"/>
                <a:ea typeface="Arial"/>
                <a:cs typeface="Arial"/>
              </a:rPr>
              <a:t>Từ chọn hành trình đến gửi yêu cầu đặt tour</a:t>
            </a:r>
          </a:p>
        </p:txBody>
      </p:sp>
      <p:sp>
        <p:nvSpPr>
          <p:cNvPr id="3" name="">
            <a:extLst xmlns:a="http://schemas.openxmlformats.org/drawingml/2006/main">
              <a:ext uri="{FF2B5EF4-FFF2-40B4-BE49-F238E27FC236}">
                <a16:creationId xmlns:a16="http://schemas.microsoft.com/office/drawing/2014/main" id="{FCE7DDDE-D5A1-4C0A-9F17-028CEDD5405D}"/>
              </a:ext>
            </a:extLst>
          </p:cNvPr>
          <p:cNvSpPr>
            <a:spLocks xmlns:a="http://schemas.openxmlformats.org/drawingml/2006/main" noGrp="1"/>
          </p:cNvSpPr>
          <p:nvPr/>
        </p:nvSpPr>
        <p:spPr>
          <a:xfrm xmlns:a="http://schemas.openxmlformats.org/drawingml/2006/main">
            <a:off x="685800" y="18288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71"/>
          </a:bodyPr>
          <a:lstStyle xmlns:a="http://schemas.openxmlformats.org/drawingml/2006/main"/>
          <a:p xmlns:a="http://schemas.openxmlformats.org/drawingml/2006/main">
            <a:pPr algn="l">
              <a:defRPr sz="1950" b="1">
                <a:solidFill>
                  <a:srgbClr val="3B1644"/>
                </a:solidFill>
                <a:latin typeface="Arial"/>
                <a:ea typeface="Arial"/>
                <a:cs typeface="Arial"/>
              </a:defRPr>
            </a:pPr>
            <a:r>
              <a:rPr sz="1950" b="1">
                <a:solidFill>
                  <a:srgbClr val="3B1644"/>
                </a:solidFill>
                <a:latin typeface="Arial"/>
                <a:ea typeface="Arial"/>
                <a:cs typeface="Arial"/>
              </a:rPr>
              <a:t>Tìm kiếm theo điểm đến và loại trải nghiệm</a:t>
            </a:r>
          </a:p>
        </p:txBody>
      </p:sp>
      <p:sp>
        <p:nvSpPr>
          <p:cNvPr id="4" name="">
            <a:extLst xmlns:a="http://schemas.openxmlformats.org/drawingml/2006/main">
              <a:ext uri="{FF2B5EF4-FFF2-40B4-BE49-F238E27FC236}">
                <a16:creationId xmlns:a16="http://schemas.microsoft.com/office/drawing/2014/main" id="{1DCCD890-6FF3-43F3-91EE-710A5E164B40}"/>
              </a:ext>
            </a:extLst>
          </p:cNvPr>
          <p:cNvSpPr>
            <a:spLocks xmlns:a="http://schemas.openxmlformats.org/drawingml/2006/main" noGrp="1"/>
          </p:cNvSpPr>
          <p:nvPr/>
        </p:nvSpPr>
        <p:spPr>
          <a:xfrm xmlns:a="http://schemas.openxmlformats.org/drawingml/2006/main">
            <a:off x="685800" y="23526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3B1644"/>
                </a:solidFill>
                <a:latin typeface="Arial"/>
                <a:ea typeface="Arial"/>
                <a:cs typeface="Arial"/>
              </a:defRPr>
            </a:pPr>
            <a:r>
              <a:rPr sz="1950" b="1">
                <a:solidFill>
                  <a:srgbClr val="3B1644"/>
                </a:solidFill>
                <a:latin typeface="Arial"/>
                <a:ea typeface="Arial"/>
                <a:cs typeface="Arial"/>
              </a:rPr>
              <a:t>Xem lịch trình, giá tour và chỗ còn trống</a:t>
            </a:r>
          </a:p>
        </p:txBody>
      </p:sp>
      <p:sp>
        <p:nvSpPr>
          <p:cNvPr id="5" name="">
            <a:extLst xmlns:a="http://schemas.openxmlformats.org/drawingml/2006/main">
              <a:ext uri="{FF2B5EF4-FFF2-40B4-BE49-F238E27FC236}">
                <a16:creationId xmlns:a16="http://schemas.microsoft.com/office/drawing/2014/main" id="{CE0E5186-462C-4215-AD61-8CFDB337CEA3}"/>
              </a:ext>
            </a:extLst>
          </p:cNvPr>
          <p:cNvSpPr>
            <a:spLocks xmlns:a="http://schemas.openxmlformats.org/drawingml/2006/main" noGrp="1"/>
          </p:cNvSpPr>
          <p:nvPr/>
        </p:nvSpPr>
        <p:spPr>
          <a:xfrm xmlns:a="http://schemas.openxmlformats.org/drawingml/2006/main">
            <a:off x="685800" y="28765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44"/>
          </a:bodyPr>
          <a:lstStyle xmlns:a="http://schemas.openxmlformats.org/drawingml/2006/main"/>
          <a:p xmlns:a="http://schemas.openxmlformats.org/drawingml/2006/main">
            <a:pPr algn="l">
              <a:defRPr sz="1950" b="1">
                <a:solidFill>
                  <a:srgbClr val="3B1644"/>
                </a:solidFill>
                <a:latin typeface="Arial"/>
                <a:ea typeface="Arial"/>
                <a:cs typeface="Arial"/>
              </a:defRPr>
            </a:pPr>
            <a:r>
              <a:rPr sz="1950" b="1">
                <a:solidFill>
                  <a:srgbClr val="3B1644"/>
                </a:solidFill>
                <a:latin typeface="Arial"/>
                <a:ea typeface="Arial"/>
                <a:cs typeface="Arial"/>
              </a:rPr>
              <a:t>Khai báo người liên hệ và từng hành khách</a:t>
            </a:r>
          </a:p>
        </p:txBody>
      </p:sp>
      <p:sp>
        <p:nvSpPr>
          <p:cNvPr id="6" name="">
            <a:extLst xmlns:a="http://schemas.openxmlformats.org/drawingml/2006/main">
              <a:ext uri="{FF2B5EF4-FFF2-40B4-BE49-F238E27FC236}">
                <a16:creationId xmlns:a16="http://schemas.microsoft.com/office/drawing/2014/main" id="{5637E939-12A7-49C2-BC9B-6EE659126EAB}"/>
              </a:ext>
            </a:extLst>
          </p:cNvPr>
          <p:cNvSpPr>
            <a:spLocks xmlns:a="http://schemas.openxmlformats.org/drawingml/2006/main" noGrp="1"/>
          </p:cNvSpPr>
          <p:nvPr/>
        </p:nvSpPr>
        <p:spPr>
          <a:xfrm xmlns:a="http://schemas.openxmlformats.org/drawingml/2006/main">
            <a:off x="685800" y="34004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3B1644"/>
                </a:solidFill>
                <a:latin typeface="Arial"/>
                <a:ea typeface="Arial"/>
                <a:cs typeface="Arial"/>
              </a:defRPr>
            </a:pPr>
            <a:r>
              <a:rPr sz="1950" b="1">
                <a:solidFill>
                  <a:srgbClr val="3B1644"/>
                </a:solidFill>
                <a:latin typeface="Arial"/>
                <a:ea typeface="Arial"/>
                <a:cs typeface="Arial"/>
              </a:rPr>
              <a:t>Tra cứu mã đặt chỗ sau khi gửi yêu cầu</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332cef5f7b34095"/>
          <a:srcRect xmlns:a="http://schemas.openxmlformats.org/drawingml/2006/main" l="0" t="10000" r="0" b="10000"/>
          <a:stretch xmlns:a="http://schemas.openxmlformats.org/drawingml/2006/main">
            <a:fillRect l="0" t="0" r="0" b="0"/>
          </a:stretch>
        </p:blipFill>
        <p:spPr>
          <a:xfrm xmlns:a="http://schemas.openxmlformats.org/drawingml/2006/main">
            <a:off x="685800" y="4143375"/>
            <a:ext cx="3333750" cy="200025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a1e457bd8f145f4"/>
          <a:srcRect xmlns:a="http://schemas.openxmlformats.org/drawingml/2006/main" l="18646" t="0" r="18646" b="0"/>
          <a:stretch xmlns:a="http://schemas.openxmlformats.org/drawingml/2006/main">
            <a:fillRect l="0" t="0" r="0" b="0"/>
          </a:stretch>
        </p:blipFill>
        <p:spPr>
          <a:xfrm xmlns:a="http://schemas.openxmlformats.org/drawingml/2006/main">
            <a:off x="4429125" y="4143375"/>
            <a:ext cx="3333750" cy="20002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8ae87920b224adf"/>
          <a:srcRect xmlns:a="http://schemas.openxmlformats.org/drawingml/2006/main" l="0" t="10000" r="0" b="10000"/>
          <a:stretch xmlns:a="http://schemas.openxmlformats.org/drawingml/2006/main">
            <a:fillRect l="0" t="0" r="0" b="0"/>
          </a:stretch>
        </p:blipFill>
        <p:spPr>
          <a:xfrm xmlns:a="http://schemas.openxmlformats.org/drawingml/2006/main">
            <a:off x="8172450" y="4143375"/>
            <a:ext cx="3333750" cy="2000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1543D9E-CD2D-4682-94B6-A6F1388848C8}"/>
              </a:ext>
            </a:extLst>
          </p:cNvPr>
          <p:cNvSpPr>
            <a:spLocks xmlns:a="http://schemas.openxmlformats.org/drawingml/2006/main" noGrp="1"/>
          </p:cNvSpPr>
          <p:nvPr/>
        </p:nvSpPr>
        <p:spPr>
          <a:xfrm xmlns:a="http://schemas.openxmlformats.org/drawingml/2006/main">
            <a:off x="685800" y="62674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D5660"/>
                </a:solidFill>
                <a:latin typeface="Arial"/>
                <a:ea typeface="Arial"/>
                <a:cs typeface="Arial"/>
              </a:defRPr>
            </a:pPr>
            <a:r>
              <a:rPr sz="1200" b="1">
                <a:solidFill>
                  <a:srgbClr val="5D5660"/>
                </a:solidFill>
                <a:latin typeface="Arial"/>
                <a:ea typeface="Arial"/>
                <a:cs typeface="Arial"/>
              </a:rPr>
              <a:t>ĐẦM TAM GIANG</a:t>
            </a:r>
          </a:p>
        </p:txBody>
      </p:sp>
      <p:sp>
        <p:nvSpPr>
          <p:cNvPr id="11" name="">
            <a:extLst xmlns:a="http://schemas.openxmlformats.org/drawingml/2006/main">
              <a:ext uri="{FF2B5EF4-FFF2-40B4-BE49-F238E27FC236}">
                <a16:creationId xmlns:a16="http://schemas.microsoft.com/office/drawing/2014/main" id="{BAD19330-D99D-4A76-8AE5-488D44ACC5D0}"/>
              </a:ext>
            </a:extLst>
          </p:cNvPr>
          <p:cNvSpPr>
            <a:spLocks xmlns:a="http://schemas.openxmlformats.org/drawingml/2006/main" noGrp="1"/>
          </p:cNvSpPr>
          <p:nvPr/>
        </p:nvSpPr>
        <p:spPr>
          <a:xfrm xmlns:a="http://schemas.openxmlformats.org/drawingml/2006/main">
            <a:off x="4429125" y="62674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D5660"/>
                </a:solidFill>
                <a:latin typeface="Arial"/>
                <a:ea typeface="Arial"/>
                <a:cs typeface="Arial"/>
              </a:defRPr>
            </a:pPr>
            <a:r>
              <a:rPr sz="1200" b="1">
                <a:solidFill>
                  <a:srgbClr val="5D5660"/>
                </a:solidFill>
                <a:latin typeface="Arial"/>
                <a:ea typeface="Arial"/>
                <a:cs typeface="Arial"/>
              </a:rPr>
              <a:t>SÔNG HƯƠNG</a:t>
            </a:r>
          </a:p>
        </p:txBody>
      </p:sp>
      <p:sp>
        <p:nvSpPr>
          <p:cNvPr id="12" name="">
            <a:extLst xmlns:a="http://schemas.openxmlformats.org/drawingml/2006/main">
              <a:ext uri="{FF2B5EF4-FFF2-40B4-BE49-F238E27FC236}">
                <a16:creationId xmlns:a16="http://schemas.microsoft.com/office/drawing/2014/main" id="{8B49E581-DDE9-4998-BA4A-6A5732BF5C00}"/>
              </a:ext>
            </a:extLst>
          </p:cNvPr>
          <p:cNvSpPr>
            <a:spLocks xmlns:a="http://schemas.openxmlformats.org/drawingml/2006/main" noGrp="1"/>
          </p:cNvSpPr>
          <p:nvPr/>
        </p:nvSpPr>
        <p:spPr>
          <a:xfrm xmlns:a="http://schemas.openxmlformats.org/drawingml/2006/main">
            <a:off x="8172450" y="62674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D5660"/>
                </a:solidFill>
                <a:latin typeface="Arial"/>
                <a:ea typeface="Arial"/>
                <a:cs typeface="Arial"/>
              </a:defRPr>
            </a:pPr>
            <a:r>
              <a:rPr sz="1200" b="1">
                <a:solidFill>
                  <a:srgbClr val="5D5660"/>
                </a:solidFill>
                <a:latin typeface="Arial"/>
                <a:ea typeface="Arial"/>
                <a:cs typeface="Arial"/>
              </a:rPr>
              <a:t>ẨM THỰC HUẾ</a:t>
            </a:r>
          </a:p>
        </p:txBody>
      </p:sp>
    </p:spTree>
    <p:extLst>
      <p:ext uri="{BB962C8B-B14F-4D97-AF65-F5344CB8AC3E}">
        <p14:creationId xmlns:p14="http://schemas.microsoft.com/office/powerpoint/2010/main" val="601537983"/>
      </p:ext>
    </p:extLst>
  </p:cSld>
</p:sld>
</file>

<file path=ppt/slides/slide4.xml><?xml version="1.0" encoding="utf-8"?>
<p:sld xmlns:p="http://schemas.openxmlformats.org/presentationml/2006/main">
  <p:cSld>
    <p:bg>
      <p:bgPr>
        <a:solidFill xmlns:a="http://schemas.openxmlformats.org/drawingml/2006/main">
          <a:srgbClr val="3B164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F2C9439-993C-40BE-9018-424AB3E5D245}"/>
              </a:ext>
            </a:extLst>
          </p:cNvPr>
          <p:cNvSpPr>
            <a:spLocks xmlns:a="http://schemas.openxmlformats.org/drawingml/2006/main" noGrp="1"/>
          </p:cNvSpPr>
          <p:nvPr/>
        </p:nvSpPr>
        <p:spPr>
          <a:xfrm xmlns:a="http://schemas.openxmlformats.org/drawingml/2006/main">
            <a:off x="685800" y="4762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D6AA3A"/>
                </a:solidFill>
                <a:latin typeface="Arial"/>
                <a:ea typeface="Arial"/>
                <a:cs typeface="Arial"/>
              </a:defRPr>
            </a:pPr>
            <a:r>
              <a:rPr sz="1350" b="1">
                <a:solidFill>
                  <a:srgbClr val="D6AA3A"/>
                </a:solidFill>
                <a:latin typeface="Arial"/>
                <a:ea typeface="Arial"/>
                <a:cs typeface="Arial"/>
              </a:rPr>
              <a:t>QUY TẮC ĐẶT TOUR</a:t>
            </a:r>
          </a:p>
        </p:txBody>
      </p:sp>
      <p:sp>
        <p:nvSpPr>
          <p:cNvPr id="2" name="">
            <a:extLst xmlns:a="http://schemas.openxmlformats.org/drawingml/2006/main">
              <a:ext uri="{FF2B5EF4-FFF2-40B4-BE49-F238E27FC236}">
                <a16:creationId xmlns:a16="http://schemas.microsoft.com/office/drawing/2014/main" id="{B8A76C91-2E3C-4DA0-B24B-FA0C81B82779}"/>
              </a:ext>
            </a:extLst>
          </p:cNvPr>
          <p:cNvSpPr>
            <a:spLocks xmlns:a="http://schemas.openxmlformats.org/drawingml/2006/main" noGrp="1"/>
          </p:cNvSpPr>
          <p:nvPr/>
        </p:nvSpPr>
        <p:spPr>
          <a:xfrm xmlns:a="http://schemas.openxmlformats.org/drawingml/2006/main">
            <a:off x="685800" y="93345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Đặt chỗ rõ ràng,</a:t>
            </a:r>
          </a:p>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tính giá theo độ tuổi</a:t>
            </a:r>
          </a:p>
        </p:txBody>
      </p:sp>
      <p:sp>
        <p:nvSpPr>
          <p:cNvPr id="3" name="">
            <a:extLst xmlns:a="http://schemas.openxmlformats.org/drawingml/2006/main">
              <a:ext uri="{FF2B5EF4-FFF2-40B4-BE49-F238E27FC236}">
                <a16:creationId xmlns:a16="http://schemas.microsoft.com/office/drawing/2014/main" id="{91F5059C-36A5-47AB-B7ED-1A3D1E7A1099}"/>
              </a:ext>
            </a:extLst>
          </p:cNvPr>
          <p:cNvSpPr>
            <a:spLocks xmlns:a="http://schemas.openxmlformats.org/drawingml/2006/main" noGrp="1"/>
          </p:cNvSpPr>
          <p:nvPr/>
        </p:nvSpPr>
        <p:spPr>
          <a:xfrm xmlns:a="http://schemas.openxmlformats.org/drawingml/2006/main">
            <a:off x="685800" y="23622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D6AA3A"/>
                </a:solidFill>
                <a:latin typeface="Arial"/>
                <a:ea typeface="Arial"/>
                <a:cs typeface="Arial"/>
              </a:defRPr>
            </a:pPr>
            <a:r>
              <a:rPr sz="1650" b="1">
                <a:solidFill>
                  <a:srgbClr val="D6AA3A"/>
                </a:solidFill>
                <a:latin typeface="Arial"/>
                <a:ea typeface="Arial"/>
                <a:cs typeface="Arial"/>
              </a:rPr>
              <a:t>SỨC CHỨA</a:t>
            </a:r>
          </a:p>
        </p:txBody>
      </p:sp>
      <p:sp>
        <p:nvSpPr>
          <p:cNvPr id="4" name="">
            <a:extLst xmlns:a="http://schemas.openxmlformats.org/drawingml/2006/main">
              <a:ext uri="{FF2B5EF4-FFF2-40B4-BE49-F238E27FC236}">
                <a16:creationId xmlns:a16="http://schemas.microsoft.com/office/drawing/2014/main" id="{AA7FC960-7C93-4DA6-ABF9-F25F91387145}"/>
              </a:ext>
            </a:extLst>
          </p:cNvPr>
          <p:cNvSpPr>
            <a:spLocks xmlns:a="http://schemas.openxmlformats.org/drawingml/2006/main" noGrp="1"/>
          </p:cNvSpPr>
          <p:nvPr/>
        </p:nvSpPr>
        <p:spPr>
          <a:xfrm xmlns:a="http://schemas.openxmlformats.org/drawingml/2006/main">
            <a:off x="685800" y="28003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 số chỗ còn</a:t>
            </a:r>
          </a:p>
        </p:txBody>
      </p:sp>
      <p:sp>
        <p:nvSpPr>
          <p:cNvPr id="5" name="">
            <a:extLst xmlns:a="http://schemas.openxmlformats.org/drawingml/2006/main">
              <a:ext uri="{FF2B5EF4-FFF2-40B4-BE49-F238E27FC236}">
                <a16:creationId xmlns:a16="http://schemas.microsoft.com/office/drawing/2014/main" id="{6D16D73F-467E-43DD-B1BF-1539818ED8DB}"/>
              </a:ext>
            </a:extLst>
          </p:cNvPr>
          <p:cNvSpPr>
            <a:spLocks xmlns:a="http://schemas.openxmlformats.org/drawingml/2006/main" noGrp="1"/>
          </p:cNvSpPr>
          <p:nvPr/>
        </p:nvSpPr>
        <p:spPr>
          <a:xfrm xmlns:a="http://schemas.openxmlformats.org/drawingml/2006/main">
            <a:off x="685800" y="358140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Không nhận booking vượt quá số ghế còn lại của chuyến.</a:t>
            </a:r>
          </a:p>
        </p:txBody>
      </p:sp>
      <p:sp>
        <p:nvSpPr>
          <p:cNvPr id="6" name="">
            <a:extLst xmlns:a="http://schemas.openxmlformats.org/drawingml/2006/main">
              <a:ext uri="{FF2B5EF4-FFF2-40B4-BE49-F238E27FC236}">
                <a16:creationId xmlns:a16="http://schemas.microsoft.com/office/drawing/2014/main" id="{833E0AB8-5042-4B15-B390-C4F4934C7E3A}"/>
              </a:ext>
            </a:extLst>
          </p:cNvPr>
          <p:cNvSpPr>
            <a:spLocks xmlns:a="http://schemas.openxmlformats.org/drawingml/2006/main" noGrp="1"/>
          </p:cNvSpPr>
          <p:nvPr/>
        </p:nvSpPr>
        <p:spPr>
          <a:xfrm xmlns:a="http://schemas.openxmlformats.org/drawingml/2006/main">
            <a:off x="685800" y="46863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D6AA3A"/>
                </a:solidFill>
                <a:latin typeface="Arial"/>
                <a:ea typeface="Arial"/>
                <a:cs typeface="Arial"/>
              </a:defRPr>
            </a:pPr>
            <a:r>
              <a:rPr sz="4650" b="1">
                <a:solidFill>
                  <a:srgbClr val="D6AA3A"/>
                </a:solidFill>
                <a:latin typeface="Arial"/>
                <a:ea typeface="Arial"/>
                <a:cs typeface="Arial"/>
              </a:rPr>
              <a:t>24 giờ</a:t>
            </a:r>
          </a:p>
        </p:txBody>
      </p:sp>
      <p:sp>
        <p:nvSpPr>
          <p:cNvPr id="7" name="">
            <a:extLst xmlns:a="http://schemas.openxmlformats.org/drawingml/2006/main">
              <a:ext uri="{FF2B5EF4-FFF2-40B4-BE49-F238E27FC236}">
                <a16:creationId xmlns:a16="http://schemas.microsoft.com/office/drawing/2014/main" id="{81A1093B-3757-4DA6-9C08-3970D53B14AE}"/>
              </a:ext>
            </a:extLst>
          </p:cNvPr>
          <p:cNvSpPr>
            <a:spLocks xmlns:a="http://schemas.openxmlformats.org/drawingml/2006/main" noGrp="1"/>
          </p:cNvSpPr>
          <p:nvPr/>
        </p:nvSpPr>
        <p:spPr>
          <a:xfrm xmlns:a="http://schemas.openxmlformats.org/drawingml/2006/main">
            <a:off x="685800" y="551497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Tự khóa đặt tour khi còn dưới 24 giờ đến giờ khởi hành.</a:t>
            </a:r>
          </a:p>
        </p:txBody>
      </p:sp>
      <p:sp>
        <p:nvSpPr>
          <p:cNvPr id="8" name="">
            <a:extLst xmlns:a="http://schemas.openxmlformats.org/drawingml/2006/main">
              <a:ext uri="{FF2B5EF4-FFF2-40B4-BE49-F238E27FC236}">
                <a16:creationId xmlns:a16="http://schemas.microsoft.com/office/drawing/2014/main" id="{EF6254DE-1E10-4422-A3DD-9092FE63F64A}"/>
              </a:ext>
            </a:extLst>
          </p:cNvPr>
          <p:cNvSpPr>
            <a:spLocks xmlns:a="http://schemas.openxmlformats.org/drawingml/2006/main" noGrp="1"/>
          </p:cNvSpPr>
          <p:nvPr/>
        </p:nvSpPr>
        <p:spPr>
          <a:xfrm xmlns:a="http://schemas.openxmlformats.org/drawingml/2006/main">
            <a:off x="6324600" y="23622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D6AA3A"/>
                </a:solidFill>
                <a:latin typeface="Arial"/>
                <a:ea typeface="Arial"/>
                <a:cs typeface="Arial"/>
              </a:defRPr>
            </a:pPr>
            <a:r>
              <a:rPr sz="1650" b="1">
                <a:solidFill>
                  <a:srgbClr val="D6AA3A"/>
                </a:solidFill>
                <a:latin typeface="Arial"/>
                <a:ea typeface="Arial"/>
                <a:cs typeface="Arial"/>
              </a:rPr>
              <a:t>GIÁ VÉ THEO ĐỘ TUỔI</a:t>
            </a:r>
          </a:p>
        </p:txBody>
      </p:sp>
      <p:sp>
        <p:nvSpPr>
          <p:cNvPr id="9" name="">
            <a:extLst xmlns:a="http://schemas.openxmlformats.org/drawingml/2006/main">
              <a:ext uri="{FF2B5EF4-FFF2-40B4-BE49-F238E27FC236}">
                <a16:creationId xmlns:a16="http://schemas.microsoft.com/office/drawing/2014/main" id="{EAD5643D-9052-400D-ACCE-32EF71865DA7}"/>
              </a:ext>
            </a:extLst>
          </p:cNvPr>
          <p:cNvSpPr>
            <a:spLocks xmlns:a="http://schemas.openxmlformats.org/drawingml/2006/main" noGrp="1"/>
          </p:cNvSpPr>
          <p:nvPr/>
        </p:nvSpPr>
        <p:spPr>
          <a:xfrm xmlns:a="http://schemas.openxmlformats.org/drawingml/2006/main">
            <a:off x="6324600" y="283845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D6AA3A"/>
                </a:solidFill>
                <a:latin typeface="Arial"/>
                <a:ea typeface="Arial"/>
                <a:cs typeface="Arial"/>
              </a:defRPr>
            </a:pPr>
            <a:r>
              <a:rPr sz="3600" b="1">
                <a:solidFill>
                  <a:srgbClr val="D6AA3A"/>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EAC00557-B916-4E90-AE3D-964DEC210F8A}"/>
              </a:ext>
            </a:extLst>
          </p:cNvPr>
          <p:cNvSpPr>
            <a:spLocks xmlns:a="http://schemas.openxmlformats.org/drawingml/2006/main" noGrp="1"/>
          </p:cNvSpPr>
          <p:nvPr/>
        </p:nvSpPr>
        <p:spPr>
          <a:xfrm xmlns:a="http://schemas.openxmlformats.org/drawingml/2006/main">
            <a:off x="7791450" y="29527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Dưới 5 tuổi, miễn phí</a:t>
            </a:r>
          </a:p>
        </p:txBody>
      </p:sp>
      <p:sp>
        <p:nvSpPr>
          <p:cNvPr id="11" name="">
            <a:extLst xmlns:a="http://schemas.openxmlformats.org/drawingml/2006/main">
              <a:ext uri="{FF2B5EF4-FFF2-40B4-BE49-F238E27FC236}">
                <a16:creationId xmlns:a16="http://schemas.microsoft.com/office/drawing/2014/main" id="{989FDD9F-C866-432E-B108-EA5CE0E95A78}"/>
              </a:ext>
            </a:extLst>
          </p:cNvPr>
          <p:cNvSpPr>
            <a:spLocks xmlns:a="http://schemas.openxmlformats.org/drawingml/2006/main" noGrp="1"/>
          </p:cNvSpPr>
          <p:nvPr/>
        </p:nvSpPr>
        <p:spPr>
          <a:xfrm xmlns:a="http://schemas.openxmlformats.org/drawingml/2006/main">
            <a:off x="6324600" y="375285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D6AA3A"/>
                </a:solidFill>
                <a:latin typeface="Arial"/>
                <a:ea typeface="Arial"/>
                <a:cs typeface="Arial"/>
              </a:defRPr>
            </a:pPr>
            <a:r>
              <a:rPr sz="3600" b="1">
                <a:solidFill>
                  <a:srgbClr val="D6AA3A"/>
                </a:solidFill>
                <a:latin typeface="Arial"/>
                <a:ea typeface="Arial"/>
                <a:cs typeface="Arial"/>
              </a:rPr>
              <a:t>50%</a:t>
            </a:r>
          </a:p>
        </p:txBody>
      </p:sp>
      <p:sp>
        <p:nvSpPr>
          <p:cNvPr id="12" name="">
            <a:extLst xmlns:a="http://schemas.openxmlformats.org/drawingml/2006/main">
              <a:ext uri="{FF2B5EF4-FFF2-40B4-BE49-F238E27FC236}">
                <a16:creationId xmlns:a16="http://schemas.microsoft.com/office/drawing/2014/main" id="{48EEAD9F-40C6-46EE-BA68-703E4435EC9D}"/>
              </a:ext>
            </a:extLst>
          </p:cNvPr>
          <p:cNvSpPr>
            <a:spLocks xmlns:a="http://schemas.openxmlformats.org/drawingml/2006/main" noGrp="1"/>
          </p:cNvSpPr>
          <p:nvPr/>
        </p:nvSpPr>
        <p:spPr>
          <a:xfrm xmlns:a="http://schemas.openxmlformats.org/drawingml/2006/main">
            <a:off x="7791450" y="38671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5 đến 11 tuổi</a:t>
            </a:r>
          </a:p>
        </p:txBody>
      </p:sp>
      <p:sp>
        <p:nvSpPr>
          <p:cNvPr id="13" name="">
            <a:extLst xmlns:a="http://schemas.openxmlformats.org/drawingml/2006/main">
              <a:ext uri="{FF2B5EF4-FFF2-40B4-BE49-F238E27FC236}">
                <a16:creationId xmlns:a16="http://schemas.microsoft.com/office/drawing/2014/main" id="{73BB9825-B78F-43DF-B39E-BB11404E8677}"/>
              </a:ext>
            </a:extLst>
          </p:cNvPr>
          <p:cNvSpPr>
            <a:spLocks xmlns:a="http://schemas.openxmlformats.org/drawingml/2006/main" noGrp="1"/>
          </p:cNvSpPr>
          <p:nvPr/>
        </p:nvSpPr>
        <p:spPr>
          <a:xfrm xmlns:a="http://schemas.openxmlformats.org/drawingml/2006/main">
            <a:off x="6324600" y="466725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D6AA3A"/>
                </a:solidFill>
                <a:latin typeface="Arial"/>
                <a:ea typeface="Arial"/>
                <a:cs typeface="Arial"/>
              </a:defRPr>
            </a:pPr>
            <a:r>
              <a:rPr sz="3600" b="1">
                <a:solidFill>
                  <a:srgbClr val="D6AA3A"/>
                </a:solidFill>
                <a:latin typeface="Arial"/>
                <a:ea typeface="Arial"/>
                <a:cs typeface="Arial"/>
              </a:rPr>
              <a:t>100%</a:t>
            </a:r>
          </a:p>
        </p:txBody>
      </p:sp>
      <p:sp>
        <p:nvSpPr>
          <p:cNvPr id="14" name="">
            <a:extLst xmlns:a="http://schemas.openxmlformats.org/drawingml/2006/main">
              <a:ext uri="{FF2B5EF4-FFF2-40B4-BE49-F238E27FC236}">
                <a16:creationId xmlns:a16="http://schemas.microsoft.com/office/drawing/2014/main" id="{F7F1EDBA-EC58-4C8F-A58C-91804D8CE6BD}"/>
              </a:ext>
            </a:extLst>
          </p:cNvPr>
          <p:cNvSpPr>
            <a:spLocks xmlns:a="http://schemas.openxmlformats.org/drawingml/2006/main" noGrp="1"/>
          </p:cNvSpPr>
          <p:nvPr/>
        </p:nvSpPr>
        <p:spPr>
          <a:xfrm xmlns:a="http://schemas.openxmlformats.org/drawingml/2006/main">
            <a:off x="7791450" y="4781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12 tuổi, theo giá người lớn</a:t>
            </a:r>
          </a:p>
        </p:txBody>
      </p:sp>
      <p:sp>
        <p:nvSpPr>
          <p:cNvPr id="15" name="">
            <a:extLst xmlns:a="http://schemas.openxmlformats.org/drawingml/2006/main">
              <a:ext uri="{FF2B5EF4-FFF2-40B4-BE49-F238E27FC236}">
                <a16:creationId xmlns:a16="http://schemas.microsoft.com/office/drawing/2014/main" id="{FBE3B65F-7E56-4C1A-BA66-7901A1FD7CA2}"/>
              </a:ext>
            </a:extLst>
          </p:cNvPr>
          <p:cNvSpPr>
            <a:spLocks xmlns:a="http://schemas.openxmlformats.org/drawingml/2006/main" noGrp="1"/>
          </p:cNvSpPr>
          <p:nvPr/>
        </p:nvSpPr>
        <p:spPr>
          <a:xfrm xmlns:a="http://schemas.openxmlformats.org/drawingml/2006/main">
            <a:off x="6324600" y="5800725"/>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0E7F1"/>
                </a:solidFill>
                <a:latin typeface="Arial"/>
                <a:ea typeface="Arial"/>
                <a:cs typeface="Arial"/>
              </a:defRPr>
            </a:pPr>
            <a:r>
              <a:rPr sz="1500" b="0">
                <a:solidFill>
                  <a:srgbClr val="F0E7F1"/>
                </a:solidFill>
                <a:latin typeface="Arial"/>
                <a:ea typeface="Arial"/>
                <a:cs typeface="Arial"/>
              </a:rPr>
              <a:t>Admin quản lý tour, chuyến đi và trạng thái booking.</a:t>
            </a:r>
          </a:p>
        </p:txBody>
      </p:sp>
    </p:spTree>
    <p:extLst>
      <p:ext uri="{BB962C8B-B14F-4D97-AF65-F5344CB8AC3E}">
        <p14:creationId xmlns:p14="http://schemas.microsoft.com/office/powerpoint/2010/main" val="360291784"/>
      </p:ext>
    </p:extLst>
  </p:cSld>
</p:sld>
</file>

<file path=ppt/slides/slide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03025E-41A0-439D-AFFC-2A568B0200EA}"/>
              </a:ext>
            </a:extLst>
          </p:cNvPr>
          <p:cNvSpPr>
            <a:spLocks xmlns:a="http://schemas.openxmlformats.org/drawingml/2006/main" noGrp="1"/>
          </p:cNvSpPr>
          <p:nvPr/>
        </p:nvSpPr>
        <p:spPr>
          <a:xfrm xmlns:a="http://schemas.openxmlformats.org/drawingml/2006/main">
            <a:off x="685800" y="49530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42255"/>
                </a:solidFill>
                <a:latin typeface="Arial"/>
                <a:ea typeface="Arial"/>
                <a:cs typeface="Arial"/>
              </a:defRPr>
            </a:pPr>
            <a:r>
              <a:rPr sz="1350" b="1">
                <a:solidFill>
                  <a:srgbClr val="542255"/>
                </a:solidFill>
                <a:latin typeface="Arial"/>
                <a:ea typeface="Arial"/>
                <a:cs typeface="Arial"/>
              </a:rPr>
              <a:t>KIẾN TRÚC HỆ THỐNG</a:t>
            </a:r>
          </a:p>
        </p:txBody>
      </p:sp>
      <p:sp>
        <p:nvSpPr>
          <p:cNvPr id="2" name="">
            <a:extLst xmlns:a="http://schemas.openxmlformats.org/drawingml/2006/main">
              <a:ext uri="{FF2B5EF4-FFF2-40B4-BE49-F238E27FC236}">
                <a16:creationId xmlns:a16="http://schemas.microsoft.com/office/drawing/2014/main" id="{54F600D1-7473-40A5-B37B-DCE29D474CE1}"/>
              </a:ext>
            </a:extLst>
          </p:cNvPr>
          <p:cNvSpPr>
            <a:spLocks xmlns:a="http://schemas.openxmlformats.org/drawingml/2006/main" noGrp="1"/>
          </p:cNvSpPr>
          <p:nvPr/>
        </p:nvSpPr>
        <p:spPr>
          <a:xfrm xmlns:a="http://schemas.openxmlformats.org/drawingml/2006/main">
            <a:off x="685800" y="9334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211B22"/>
                </a:solidFill>
                <a:latin typeface="Arial"/>
                <a:ea typeface="Arial"/>
                <a:cs typeface="Arial"/>
              </a:defRPr>
            </a:pPr>
            <a:r>
              <a:rPr sz="3150" b="1">
                <a:solidFill>
                  <a:srgbClr val="211B22"/>
                </a:solidFill>
                <a:latin typeface="Arial"/>
                <a:ea typeface="Arial"/>
                <a:cs typeface="Arial"/>
              </a:rPr>
              <a:t>Các tầng giữ vai trò riêng</a:t>
            </a:r>
          </a:p>
        </p:txBody>
      </p:sp>
      <p:sp>
        <p:nvSpPr>
          <p:cNvPr id="3" name="">
            <a:extLst xmlns:a="http://schemas.openxmlformats.org/drawingml/2006/main">
              <a:ext uri="{FF2B5EF4-FFF2-40B4-BE49-F238E27FC236}">
                <a16:creationId xmlns:a16="http://schemas.microsoft.com/office/drawing/2014/main" id="{7C929B83-09CD-4144-8C60-B5C525A16BA9}"/>
              </a:ext>
            </a:extLst>
          </p:cNvPr>
          <p:cNvSpPr>
            <a:spLocks xmlns:a="http://schemas.openxmlformats.org/drawingml/2006/main" noGrp="1"/>
          </p:cNvSpPr>
          <p:nvPr/>
        </p:nvSpPr>
        <p:spPr>
          <a:xfrm xmlns:a="http://schemas.openxmlformats.org/drawingml/2006/main">
            <a:off x="685800" y="19621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B1644"/>
                </a:solidFill>
                <a:latin typeface="Arial"/>
                <a:ea typeface="Arial"/>
                <a:cs typeface="Arial"/>
              </a:defRPr>
            </a:pPr>
            <a:r>
              <a:rPr sz="1875" b="1">
                <a:solidFill>
                  <a:srgbClr val="3B1644"/>
                </a:solidFill>
                <a:latin typeface="Arial"/>
                <a:ea typeface="Arial"/>
                <a:cs typeface="Arial"/>
              </a:rPr>
              <a:t>01  CoreBusiness</a:t>
            </a:r>
          </a:p>
        </p:txBody>
      </p:sp>
      <p:sp>
        <p:nvSpPr>
          <p:cNvPr id="4" name="">
            <a:extLst xmlns:a="http://schemas.openxmlformats.org/drawingml/2006/main">
              <a:ext uri="{FF2B5EF4-FFF2-40B4-BE49-F238E27FC236}">
                <a16:creationId xmlns:a16="http://schemas.microsoft.com/office/drawing/2014/main" id="{701205A0-F59F-41E1-9CB2-66E35AFFB1A5}"/>
              </a:ext>
            </a:extLst>
          </p:cNvPr>
          <p:cNvSpPr>
            <a:spLocks xmlns:a="http://schemas.openxmlformats.org/drawingml/2006/main" noGrp="1"/>
          </p:cNvSpPr>
          <p:nvPr/>
        </p:nvSpPr>
        <p:spPr>
          <a:xfrm xmlns:a="http://schemas.openxmlformats.org/drawingml/2006/main">
            <a:off x="685800" y="23241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Mô hình miền và quy tắc đặt tour</a:t>
            </a:r>
          </a:p>
        </p:txBody>
      </p:sp>
      <p:sp>
        <p:nvSpPr>
          <p:cNvPr id="5" name="">
            <a:extLst xmlns:a="http://schemas.openxmlformats.org/drawingml/2006/main">
              <a:ext uri="{FF2B5EF4-FFF2-40B4-BE49-F238E27FC236}">
                <a16:creationId xmlns:a16="http://schemas.microsoft.com/office/drawing/2014/main" id="{8BC4C452-E917-44FE-9FA2-E7BD6C66AF05}"/>
              </a:ext>
            </a:extLst>
          </p:cNvPr>
          <p:cNvSpPr>
            <a:spLocks xmlns:a="http://schemas.openxmlformats.org/drawingml/2006/main" noGrp="1"/>
          </p:cNvSpPr>
          <p:nvPr/>
        </p:nvSpPr>
        <p:spPr>
          <a:xfrm xmlns:a="http://schemas.openxmlformats.org/drawingml/2006/main">
            <a:off x="685800" y="30289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B1644"/>
                </a:solidFill>
                <a:latin typeface="Arial"/>
                <a:ea typeface="Arial"/>
                <a:cs typeface="Arial"/>
              </a:defRPr>
            </a:pPr>
            <a:r>
              <a:rPr sz="1875" b="1">
                <a:solidFill>
                  <a:srgbClr val="3B1644"/>
                </a:solidFill>
                <a:latin typeface="Arial"/>
                <a:ea typeface="Arial"/>
                <a:cs typeface="Arial"/>
              </a:rPr>
              <a:t>02  UseCases</a:t>
            </a:r>
          </a:p>
        </p:txBody>
      </p:sp>
      <p:sp>
        <p:nvSpPr>
          <p:cNvPr id="6" name="">
            <a:extLst xmlns:a="http://schemas.openxmlformats.org/drawingml/2006/main">
              <a:ext uri="{FF2B5EF4-FFF2-40B4-BE49-F238E27FC236}">
                <a16:creationId xmlns:a16="http://schemas.microsoft.com/office/drawing/2014/main" id="{406BB74D-D6B2-4247-B565-4D80A50D69EC}"/>
              </a:ext>
            </a:extLst>
          </p:cNvPr>
          <p:cNvSpPr>
            <a:spLocks xmlns:a="http://schemas.openxmlformats.org/drawingml/2006/main" noGrp="1"/>
          </p:cNvSpPr>
          <p:nvPr/>
        </p:nvSpPr>
        <p:spPr>
          <a:xfrm xmlns:a="http://schemas.openxmlformats.org/drawingml/2006/main">
            <a:off x="685800" y="33909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Luồng nghiệp vụ và interface repository</a:t>
            </a:r>
          </a:p>
        </p:txBody>
      </p:sp>
      <p:sp>
        <p:nvSpPr>
          <p:cNvPr id="7" name="">
            <a:extLst xmlns:a="http://schemas.openxmlformats.org/drawingml/2006/main">
              <a:ext uri="{FF2B5EF4-FFF2-40B4-BE49-F238E27FC236}">
                <a16:creationId xmlns:a16="http://schemas.microsoft.com/office/drawing/2014/main" id="{02C3A3EB-35A4-4E68-A441-3942F7F74786}"/>
              </a:ext>
            </a:extLst>
          </p:cNvPr>
          <p:cNvSpPr>
            <a:spLocks xmlns:a="http://schemas.openxmlformats.org/drawingml/2006/main" noGrp="1"/>
          </p:cNvSpPr>
          <p:nvPr/>
        </p:nvSpPr>
        <p:spPr>
          <a:xfrm xmlns:a="http://schemas.openxmlformats.org/drawingml/2006/main">
            <a:off x="685800" y="40957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B1644"/>
                </a:solidFill>
                <a:latin typeface="Arial"/>
                <a:ea typeface="Arial"/>
                <a:cs typeface="Arial"/>
              </a:defRPr>
            </a:pPr>
            <a:r>
              <a:rPr sz="1875" b="1">
                <a:solidFill>
                  <a:srgbClr val="3B1644"/>
                </a:solidFill>
                <a:latin typeface="Arial"/>
                <a:ea typeface="Arial"/>
                <a:cs typeface="Arial"/>
              </a:rPr>
              <a:t>03  Plugins</a:t>
            </a:r>
          </a:p>
        </p:txBody>
      </p:sp>
      <p:sp>
        <p:nvSpPr>
          <p:cNvPr id="8" name="">
            <a:extLst xmlns:a="http://schemas.openxmlformats.org/drawingml/2006/main">
              <a:ext uri="{FF2B5EF4-FFF2-40B4-BE49-F238E27FC236}">
                <a16:creationId xmlns:a16="http://schemas.microsoft.com/office/drawing/2014/main" id="{7D474389-F918-458E-A9F9-8FE7907D48BB}"/>
              </a:ext>
            </a:extLst>
          </p:cNvPr>
          <p:cNvSpPr>
            <a:spLocks xmlns:a="http://schemas.openxmlformats.org/drawingml/2006/main" noGrp="1"/>
          </p:cNvSpPr>
          <p:nvPr/>
        </p:nvSpPr>
        <p:spPr>
          <a:xfrm xmlns:a="http://schemas.openxmlformats.org/drawingml/2006/main">
            <a:off x="685800" y="44577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SQL Server với Dapper và dữ liệu mẫu trong bộ nhớ</a:t>
            </a:r>
          </a:p>
        </p:txBody>
      </p:sp>
      <p:sp>
        <p:nvSpPr>
          <p:cNvPr id="9" name="">
            <a:extLst xmlns:a="http://schemas.openxmlformats.org/drawingml/2006/main">
              <a:ext uri="{FF2B5EF4-FFF2-40B4-BE49-F238E27FC236}">
                <a16:creationId xmlns:a16="http://schemas.microsoft.com/office/drawing/2014/main" id="{D1AA2BF3-0033-448E-B96B-A20829D5ED4C}"/>
              </a:ext>
            </a:extLst>
          </p:cNvPr>
          <p:cNvSpPr>
            <a:spLocks xmlns:a="http://schemas.openxmlformats.org/drawingml/2006/main" noGrp="1"/>
          </p:cNvSpPr>
          <p:nvPr/>
        </p:nvSpPr>
        <p:spPr>
          <a:xfrm xmlns:a="http://schemas.openxmlformats.org/drawingml/2006/main">
            <a:off x="685800" y="51625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B1644"/>
                </a:solidFill>
                <a:latin typeface="Arial"/>
                <a:ea typeface="Arial"/>
                <a:cs typeface="Arial"/>
              </a:defRPr>
            </a:pPr>
            <a:r>
              <a:rPr sz="1875" b="1">
                <a:solidFill>
                  <a:srgbClr val="3B1644"/>
                </a:solidFill>
                <a:latin typeface="Arial"/>
                <a:ea typeface="Arial"/>
                <a:cs typeface="Arial"/>
              </a:rPr>
              <a:t>04  WebApp</a:t>
            </a:r>
          </a:p>
        </p:txBody>
      </p:sp>
      <p:sp>
        <p:nvSpPr>
          <p:cNvPr id="10" name="">
            <a:extLst xmlns:a="http://schemas.openxmlformats.org/drawingml/2006/main">
              <a:ext uri="{FF2B5EF4-FFF2-40B4-BE49-F238E27FC236}">
                <a16:creationId xmlns:a16="http://schemas.microsoft.com/office/drawing/2014/main" id="{5E87AC0C-B108-45B9-81E6-C10A94D8A9E5}"/>
              </a:ext>
            </a:extLst>
          </p:cNvPr>
          <p:cNvSpPr>
            <a:spLocks xmlns:a="http://schemas.openxmlformats.org/drawingml/2006/main" noGrp="1"/>
          </p:cNvSpPr>
          <p:nvPr/>
        </p:nvSpPr>
        <p:spPr>
          <a:xfrm xmlns:a="http://schemas.openxmlformats.org/drawingml/2006/main">
            <a:off x="685800" y="55245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Giao diện Blazor Server, cookie và phân quyền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7a7892c430e4b2b"/>
          <a:srcRect xmlns:a="http://schemas.openxmlformats.org/drawingml/2006/main" l="9395" t="0" r="9395" b="0"/>
          <a:stretch xmlns:a="http://schemas.openxmlformats.org/drawingml/2006/main">
            <a:fillRect l="0" t="0" r="0" b="0"/>
          </a:stretch>
        </p:blipFill>
        <p:spPr>
          <a:xfrm xmlns:a="http://schemas.openxmlformats.org/drawingml/2006/main">
            <a:off x="6286500" y="1790700"/>
            <a:ext cx="5219700" cy="4286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586943B-A9CF-4EAA-8123-507D44AC127C}"/>
              </a:ext>
            </a:extLst>
          </p:cNvPr>
          <p:cNvSpPr>
            <a:spLocks xmlns:a="http://schemas.openxmlformats.org/drawingml/2006/main" noGrp="1"/>
          </p:cNvSpPr>
          <p:nvPr/>
        </p:nvSpPr>
        <p:spPr>
          <a:xfrm xmlns:a="http://schemas.openxmlformats.org/drawingml/2006/main">
            <a:off x="685800" y="63436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42255"/>
                </a:solidFill>
                <a:latin typeface="Arial"/>
                <a:ea typeface="Arial"/>
                <a:cs typeface="Arial"/>
              </a:defRPr>
            </a:pPr>
            <a:r>
              <a:rPr sz="1500" b="1">
                <a:solidFill>
                  <a:srgbClr val="542255"/>
                </a:solidFill>
                <a:latin typeface="Arial"/>
                <a:ea typeface="Arial"/>
                <a:cs typeface="Arial"/>
              </a:rPr>
              <a:t>.NET 8  ·  SQL Server  ·  Dapper</a:t>
            </a:r>
          </a:p>
        </p:txBody>
      </p:sp>
    </p:spTree>
    <p:extLst>
      <p:ext uri="{BB962C8B-B14F-4D97-AF65-F5344CB8AC3E}">
        <p14:creationId xmlns:p14="http://schemas.microsoft.com/office/powerpoint/2010/main" val="1225026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1CA501-2EBF-4211-8A61-7A019E641DA6}"/>
              </a:ext>
            </a:extLst>
          </p:cNvPr>
          <p:cNvSpPr>
            <a:spLocks xmlns:a="http://schemas.openxmlformats.org/drawingml/2006/main" noGrp="1"/>
          </p:cNvSpPr>
          <p:nvPr/>
        </p:nvSpPr>
        <p:spPr>
          <a:xfrm xmlns:a="http://schemas.openxmlformats.org/drawingml/2006/main">
            <a:off x="685800" y="6667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42255"/>
                </a:solidFill>
                <a:latin typeface="Arial"/>
                <a:ea typeface="Arial"/>
                <a:cs typeface="Arial"/>
              </a:defRPr>
            </a:pPr>
            <a:r>
              <a:rPr sz="1350" b="1">
                <a:solidFill>
                  <a:srgbClr val="542255"/>
                </a:solidFill>
                <a:latin typeface="Arial"/>
                <a:ea typeface="Arial"/>
                <a:cs typeface="Arial"/>
              </a:rPr>
              <a:t>THÔNG TIN THỰC HIỆN</a:t>
            </a:r>
          </a:p>
        </p:txBody>
      </p:sp>
      <p:sp>
        <p:nvSpPr>
          <p:cNvPr id="2" name="">
            <a:extLst xmlns:a="http://schemas.openxmlformats.org/drawingml/2006/main">
              <a:ext uri="{FF2B5EF4-FFF2-40B4-BE49-F238E27FC236}">
                <a16:creationId xmlns:a16="http://schemas.microsoft.com/office/drawing/2014/main" id="{EEE96F3F-4489-4780-928B-F38BFBDD7AC3}"/>
              </a:ext>
            </a:extLst>
          </p:cNvPr>
          <p:cNvSpPr>
            <a:spLocks xmlns:a="http://schemas.openxmlformats.org/drawingml/2006/main" noGrp="1"/>
          </p:cNvSpPr>
          <p:nvPr/>
        </p:nvSpPr>
        <p:spPr>
          <a:xfrm xmlns:a="http://schemas.openxmlformats.org/drawingml/2006/main">
            <a:off x="685800" y="1257300"/>
            <a:ext cx="838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211B22"/>
                </a:solidFill>
                <a:latin typeface="Arial"/>
                <a:ea typeface="Arial"/>
                <a:cs typeface="Arial"/>
              </a:defRPr>
            </a:pPr>
            <a:r>
              <a:rPr sz="3300" b="1">
                <a:solidFill>
                  <a:srgbClr val="211B22"/>
                </a:solidFill>
                <a:latin typeface="Arial"/>
                <a:ea typeface="Arial"/>
                <a:cs typeface="Arial"/>
              </a:rPr>
              <a:t>Lương Quang Hoàng Minh</a:t>
            </a:r>
          </a:p>
        </p:txBody>
      </p:sp>
      <p:sp>
        <p:nvSpPr>
          <p:cNvPr id="3" name="">
            <a:extLst xmlns:a="http://schemas.openxmlformats.org/drawingml/2006/main">
              <a:ext uri="{FF2B5EF4-FFF2-40B4-BE49-F238E27FC236}">
                <a16:creationId xmlns:a16="http://schemas.microsoft.com/office/drawing/2014/main" id="{49806EA8-5E14-47DC-981A-5EEADE464A55}"/>
              </a:ext>
            </a:extLst>
          </p:cNvPr>
          <p:cNvSpPr>
            <a:spLocks xmlns:a="http://schemas.openxmlformats.org/drawingml/2006/main" noGrp="1"/>
          </p:cNvSpPr>
          <p:nvPr/>
        </p:nvSpPr>
        <p:spPr>
          <a:xfrm xmlns:a="http://schemas.openxmlformats.org/drawingml/2006/main">
            <a:off x="685800" y="20955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3B1644"/>
                </a:solidFill>
                <a:latin typeface="Arial"/>
                <a:ea typeface="Arial"/>
                <a:cs typeface="Arial"/>
              </a:defRPr>
            </a:pPr>
            <a:r>
              <a:rPr sz="2100" b="1">
                <a:solidFill>
                  <a:srgbClr val="3B1644"/>
                </a:solidFill>
                <a:latin typeface="Arial"/>
                <a:ea typeface="Arial"/>
                <a:cs typeface="Arial"/>
              </a:rPr>
              <a:t>MSSV  23K4080038</a:t>
            </a:r>
          </a:p>
        </p:txBody>
      </p:sp>
      <p:sp>
        <p:nvSpPr>
          <p:cNvPr id="4" name="">
            <a:extLst xmlns:a="http://schemas.openxmlformats.org/drawingml/2006/main">
              <a:ext uri="{FF2B5EF4-FFF2-40B4-BE49-F238E27FC236}">
                <a16:creationId xmlns:a16="http://schemas.microsoft.com/office/drawing/2014/main" id="{5CAFB263-34D1-40AD-88A3-2E5E75CB4D9D}"/>
              </a:ext>
            </a:extLst>
          </p:cNvPr>
          <p:cNvSpPr>
            <a:spLocks xmlns:a="http://schemas.openxmlformats.org/drawingml/2006/main" noGrp="1"/>
          </p:cNvSpPr>
          <p:nvPr/>
        </p:nvSpPr>
        <p:spPr>
          <a:xfrm xmlns:a="http://schemas.openxmlformats.org/drawingml/2006/main">
            <a:off x="685800" y="26479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211B22"/>
                </a:solidFill>
                <a:latin typeface="Arial"/>
                <a:ea typeface="Arial"/>
                <a:cs typeface="Arial"/>
              </a:defRPr>
            </a:pPr>
            <a:r>
              <a:rPr sz="1950" b="0">
                <a:solidFill>
                  <a:srgbClr val="211B22"/>
                </a:solidFill>
                <a:latin typeface="Arial"/>
                <a:ea typeface="Arial"/>
                <a:cs typeface="Arial"/>
              </a:rPr>
              <a:t>Lớp / Khóa  K57HTTTQL</a:t>
            </a:r>
          </a:p>
        </p:txBody>
      </p:sp>
      <p:sp>
        <p:nvSpPr>
          <p:cNvPr id="5" name="">
            <a:extLst xmlns:a="http://schemas.openxmlformats.org/drawingml/2006/main">
              <a:ext uri="{FF2B5EF4-FFF2-40B4-BE49-F238E27FC236}">
                <a16:creationId xmlns:a16="http://schemas.microsoft.com/office/drawing/2014/main" id="{7BA21E2A-A047-4AC9-BFFF-833E7209C5D3}"/>
              </a:ext>
            </a:extLst>
          </p:cNvPr>
          <p:cNvSpPr>
            <a:spLocks xmlns:a="http://schemas.openxmlformats.org/drawingml/2006/main" noGrp="1"/>
          </p:cNvSpPr>
          <p:nvPr/>
        </p:nvSpPr>
        <p:spPr>
          <a:xfrm xmlns:a="http://schemas.openxmlformats.org/drawingml/2006/main">
            <a:off x="68580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11B22"/>
                </a:solidFill>
                <a:latin typeface="Arial"/>
                <a:ea typeface="Arial"/>
                <a:cs typeface="Arial"/>
              </a:defRPr>
            </a:pPr>
            <a:r>
              <a:rPr sz="1800" b="0">
                <a:solidFill>
                  <a:srgbClr val="211B22"/>
                </a:solidFill>
                <a:latin typeface="Arial"/>
                <a:ea typeface="Arial"/>
                <a:cs typeface="Arial"/>
              </a:rPr>
              <a:t>Môn học  Lập Trình Web / Phát Triển Ứng Dụng Web (.NET)</a:t>
            </a:r>
          </a:p>
        </p:txBody>
      </p:sp>
      <p:sp>
        <p:nvSpPr>
          <p:cNvPr id="6" name="">
            <a:extLst xmlns:a="http://schemas.openxmlformats.org/drawingml/2006/main">
              <a:ext uri="{FF2B5EF4-FFF2-40B4-BE49-F238E27FC236}">
                <a16:creationId xmlns:a16="http://schemas.microsoft.com/office/drawing/2014/main" id="{F5336413-77ED-48EC-937B-A4983FB39A68}"/>
              </a:ext>
            </a:extLst>
          </p:cNvPr>
          <p:cNvSpPr>
            <a:spLocks xmlns:a="http://schemas.openxmlformats.org/drawingml/2006/main" noGrp="1"/>
          </p:cNvSpPr>
          <p:nvPr/>
        </p:nvSpPr>
        <p:spPr>
          <a:xfrm xmlns:a="http://schemas.openxmlformats.org/drawingml/2006/main">
            <a:off x="685800" y="40005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11B22"/>
                </a:solidFill>
                <a:latin typeface="Arial"/>
                <a:ea typeface="Arial"/>
                <a:cs typeface="Arial"/>
              </a:defRPr>
            </a:pPr>
            <a:r>
              <a:rPr sz="1800" b="0">
                <a:solidFill>
                  <a:srgbClr val="211B22"/>
                </a:solidFill>
                <a:latin typeface="Arial"/>
                <a:ea typeface="Arial"/>
                <a:cs typeface="Arial"/>
              </a:rPr>
              <a:t>Giảng viên hướng dẫn  Hà Ngọc Long</a:t>
            </a:r>
          </a:p>
        </p:txBody>
      </p:sp>
      <p:sp>
        <p:nvSpPr>
          <p:cNvPr id="7" name="">
            <a:extLst xmlns:a="http://schemas.openxmlformats.org/drawingml/2006/main">
              <a:ext uri="{FF2B5EF4-FFF2-40B4-BE49-F238E27FC236}">
                <a16:creationId xmlns:a16="http://schemas.microsoft.com/office/drawing/2014/main" id="{6C55C332-7116-4145-AF07-8E2CB0E9D195}"/>
              </a:ext>
            </a:extLst>
          </p:cNvPr>
          <p:cNvSpPr>
            <a:spLocks xmlns:a="http://schemas.openxmlformats.org/drawingml/2006/main" noGrp="1"/>
          </p:cNvSpPr>
          <p:nvPr/>
        </p:nvSpPr>
        <p:spPr>
          <a:xfrm xmlns:a="http://schemas.openxmlformats.org/drawingml/2006/main">
            <a:off x="685800" y="455295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11B22"/>
                </a:solidFill>
                <a:latin typeface="Arial"/>
                <a:ea typeface="Arial"/>
                <a:cs typeface="Arial"/>
              </a:defRPr>
            </a:pPr>
            <a:r>
              <a:rPr sz="1800" b="0">
                <a:solidFill>
                  <a:srgbClr val="211B22"/>
                </a:solidFill>
                <a:latin typeface="Arial"/>
                <a:ea typeface="Arial"/>
                <a:cs typeface="Arial"/>
              </a:rPr>
              <a:t>Khoa Tin Học Kinh Tế, Đại Học Kinh Tế Huế</a:t>
            </a:r>
          </a:p>
        </p:txBody>
      </p:sp>
      <p:sp>
        <p:nvSpPr>
          <p:cNvPr id="8" name="">
            <a:extLst xmlns:a="http://schemas.openxmlformats.org/drawingml/2006/main">
              <a:ext uri="{FF2B5EF4-FFF2-40B4-BE49-F238E27FC236}">
                <a16:creationId xmlns:a16="http://schemas.microsoft.com/office/drawing/2014/main" id="{18876636-1F1E-4E23-8457-8E4379BA1579}"/>
              </a:ext>
            </a:extLst>
          </p:cNvPr>
          <p:cNvSpPr>
            <a:spLocks xmlns:a="http://schemas.openxmlformats.org/drawingml/2006/main" noGrp="1"/>
          </p:cNvSpPr>
          <p:nvPr/>
        </p:nvSpPr>
        <p:spPr>
          <a:xfrm xmlns:a="http://schemas.openxmlformats.org/drawingml/2006/main">
            <a:off x="685800" y="51054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11B22"/>
                </a:solidFill>
                <a:latin typeface="Arial"/>
                <a:ea typeface="Arial"/>
                <a:cs typeface="Arial"/>
              </a:defRPr>
            </a:pPr>
            <a:r>
              <a:rPr sz="1800" b="0">
                <a:solidFill>
                  <a:srgbClr val="211B22"/>
                </a:solidFill>
                <a:latin typeface="Arial"/>
                <a:ea typeface="Arial"/>
                <a:cs typeface="Arial"/>
              </a:rPr>
              <a:t>Hoàn thành / nộp bài  29/09/2026</a:t>
            </a:r>
          </a:p>
        </p:txBody>
      </p:sp>
      <p:sp>
        <p:nvSpPr>
          <p:cNvPr id="9" name="">
            <a:extLst xmlns:a="http://schemas.openxmlformats.org/drawingml/2006/main">
              <a:ext uri="{FF2B5EF4-FFF2-40B4-BE49-F238E27FC236}">
                <a16:creationId xmlns:a16="http://schemas.microsoft.com/office/drawing/2014/main" id="{EE0B3F6A-A2BB-4E0C-B273-EF1FD23DD39A}"/>
              </a:ext>
            </a:extLst>
          </p:cNvPr>
          <p:cNvSpPr>
            <a:spLocks xmlns:a="http://schemas.openxmlformats.org/drawingml/2006/main" noGrp="1"/>
          </p:cNvSpPr>
          <p:nvPr/>
        </p:nvSpPr>
        <p:spPr>
          <a:xfrm xmlns:a="http://schemas.openxmlformats.org/drawingml/2006/main">
            <a:off x="685800" y="581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542255"/>
                </a:solidFill>
                <a:latin typeface="Arial"/>
                <a:ea typeface="Arial"/>
                <a:cs typeface="Arial"/>
              </a:defRPr>
            </a:pPr>
            <a:r>
              <a:rPr sz="1425" b="1">
                <a:solidFill>
                  <a:srgbClr val="542255"/>
                </a:solidFill>
                <a:latin typeface="Arial"/>
                <a:ea typeface="Arial"/>
                <a:cs typeface="Arial"/>
              </a:rPr>
              <a:t>GitHub  github.com/Minh05JQKA/-n-TourDulLichHue</a:t>
            </a:r>
          </a:p>
        </p:txBody>
      </p:sp>
    </p:spTree>
    <p:extLst>
      <p:ext uri="{BB962C8B-B14F-4D97-AF65-F5344CB8AC3E}">
        <p14:creationId xmlns:p14="http://schemas.microsoft.com/office/powerpoint/2010/main" val="1769294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2026-10-07T15:54:04.8340000Z</dcterms:created>
  <dcterms:modified xsi:type="dcterms:W3CDTF">2026-10-07T15:54:04.8340000Z</dcterms:modified>
</coreProperties>
</file>